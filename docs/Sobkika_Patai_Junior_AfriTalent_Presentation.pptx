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Présente-toi et annonce le projet AfriTalent. Durée totale : 10 min de présentation + 5 min de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 le plan rapidement sans t'y attarder.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 sur le fait que c'est un projet personnel, pas un template copié. Tu as conçu l'architecture toi-même.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 = richesse africaine + tech premium. Bleu nuit = confiance et sérieux. Les 2 couleurs forment un contraste fort lisible. Polices importées via CDN Google Fonts dans le &lt;head&gt;.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le prof demande 'pourquoi le Bento Grid ?' : c'est une tendance web 2026 explicitement mentionnée dans le sujet, et CSS Grid natif permet de le faire sans librairie externe.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Connais chaque fichier par cœur. Le prof peut demander 'à quoi sert main.js ?' — réponse : toutes les fonctionnalités JavaScript en un seul fichier.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Idéalement, remplace ces cartes par de vraies screenshots de ton site (F12 &gt; Capture dans Chrome). Appuie-toi sur la démo live slide 13 pour montrer le rendu réel.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chaque fonctionnalité, prépare-toi à expliquer la logique ligne par ligne. Ex: IntersectionObserver déclenche un callback quand l'élément entre dans le viewport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prof peut demander : 'À quoi servent les variables CSS ?' → Réponse : centraliser les valeurs de couleurs/polices pour les changer en un seul endroit (thème cohérent).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: le prof vérifie les timestamps des commits. Chaque commit doit correspondre à une vraie semaine. Ne pushe pas tout d'un coup la veille de la soutenance.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Être honnête sur les difficultés montre ta capacité de résolution de problèmes — qualité très appréciée. Évite de dire 'j'ai cherché sur internet' sans expliquer la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 que tu as utilisé des sources officielles. MDN et Bootstrap Docs sont les deux références principales. N'oublie pas de mentionner W3C Validator pour valider ton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Ouvre le navigateur sur ton GitHub Pages. Montre les fonctionnalités dans l'ordre de cette liste. Anticipe les questions du prof : 'Montre-moi le dark mode', 'Filtre par Design'.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Termine avec assurance. Les perspectives montrent que tu comprends les limites du projet et les axes d'évolution. Reste calme pour les questions — tu connais ton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8A8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AfriTalent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Connecter les talents tech africains aux entreprises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2606040"/>
            <a:ext cx="2743200" cy="36576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283464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222244"/>
          </a:solidFill>
          <a:ln w="12700">
            <a:solidFill>
              <a:srgbClr val="22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2898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" y="3200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23160" y="283464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222244"/>
          </a:solidFill>
          <a:ln w="12700">
            <a:solidFill>
              <a:srgbClr val="22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2898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23160" y="3200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Informatique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283464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222244"/>
          </a:solidFill>
          <a:ln w="12700">
            <a:solidFill>
              <a:srgbClr val="22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2898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17720" y="3200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S2 — ISI Dakar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12280" y="283464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222244"/>
          </a:solidFill>
          <a:ln w="12700">
            <a:solidFill>
              <a:srgbClr val="22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12280" y="2898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12280" y="3200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Robert Diassé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5C76A"/>
          </a:solidFill>
          <a:ln w="12700">
            <a:solidFill>
              <a:srgbClr val="F5C7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orale — Semestre 2  |  ISI Dakar  |  Juin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A8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594360" cy="438912"/>
          </a:xfrm>
          <a:prstGeom prst="roundRect">
            <a:avLst>
              <a:gd name="adj" fmla="val 12500"/>
            </a:avLst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0881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645920"/>
            <a:ext cx="594360" cy="438912"/>
          </a:xfrm>
          <a:prstGeom prst="roundRect">
            <a:avLst>
              <a:gd name="adj" fmla="val 12500"/>
            </a:avLst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4592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7282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 — Palette &amp; Polices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286000"/>
            <a:ext cx="594360" cy="438912"/>
          </a:xfrm>
          <a:prstGeom prst="roundRect">
            <a:avLst>
              <a:gd name="adj" fmla="val 12500"/>
            </a:avLst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28600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3682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Inspirations &amp; Tendances 2026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2926080"/>
            <a:ext cx="594360" cy="438912"/>
          </a:xfrm>
          <a:prstGeom prst="roundRect">
            <a:avLst>
              <a:gd name="adj" fmla="val 12500"/>
            </a:avLst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92608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30083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Arborescence &amp; Pages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566160"/>
            <a:ext cx="594360" cy="438912"/>
          </a:xfrm>
          <a:prstGeom prst="roundRect">
            <a:avLst>
              <a:gd name="adj" fmla="val 12500"/>
            </a:avLst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56616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36484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Aperçu des pages du site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4206240"/>
            <a:ext cx="594360" cy="438912"/>
          </a:xfrm>
          <a:prstGeom prst="roundRect">
            <a:avLst>
              <a:gd name="adj" fmla="val 12500"/>
            </a:avLst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20624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42885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 — JavaScript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1005840"/>
            <a:ext cx="594360" cy="438912"/>
          </a:xfrm>
          <a:prstGeom prst="roundRect">
            <a:avLst>
              <a:gd name="adj" fmla="val 12500"/>
            </a:avLst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00584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9240" y="10881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&amp; CSS avancé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63440" y="1645920"/>
            <a:ext cx="594360" cy="438912"/>
          </a:xfrm>
          <a:prstGeom prst="roundRect">
            <a:avLst>
              <a:gd name="adj" fmla="val 12500"/>
            </a:avLst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64592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49240" y="17282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&amp; Déploiement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2286000"/>
            <a:ext cx="594360" cy="438912"/>
          </a:xfrm>
          <a:prstGeom prst="roundRect">
            <a:avLst>
              <a:gd name="adj" fmla="val 12500"/>
            </a:avLst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28600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49240" y="23682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&amp; Solutions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63440" y="2926080"/>
            <a:ext cx="594360" cy="438912"/>
          </a:xfrm>
          <a:prstGeom prst="roundRect">
            <a:avLst>
              <a:gd name="adj" fmla="val 12500"/>
            </a:avLst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292608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49240" y="30083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utilisées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63440" y="3566160"/>
            <a:ext cx="594360" cy="438912"/>
          </a:xfrm>
          <a:prstGeom prst="roundRect">
            <a:avLst>
              <a:gd name="adj" fmla="val 12500"/>
            </a:avLst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356616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49240" y="36484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live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63440" y="4206240"/>
            <a:ext cx="594360" cy="438912"/>
          </a:xfrm>
          <a:prstGeom prst="roundRect">
            <a:avLst>
              <a:gd name="adj" fmla="val 12500"/>
            </a:avLst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420624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49240" y="42885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A8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Présentation du projet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4160520" cy="3886200"/>
          </a:xfrm>
          <a:prstGeom prst="roundRect">
            <a:avLst>
              <a:gd name="adj" fmla="val 2353"/>
            </a:avLst>
          </a:prstGeom>
          <a:solidFill>
            <a:srgbClr val="222244"/>
          </a:solidFill>
          <a:ln w="12700">
            <a:solidFill>
              <a:srgbClr val="22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241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marché du freelance tech en Afrique connaît une croissance explosive. Développeurs, designers et créateurs cherchent une plateforme fiable pour proposer leurs services.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est un site vitrine fictif de mise en relation entre freelances tech et entreprises, conçu dans le cadre du Projet S2 à l'ISI Dakar.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160520" cy="1170432"/>
          </a:xfrm>
          <a:prstGeom prst="roundRect">
            <a:avLst>
              <a:gd name="adj" fmla="val 6250"/>
            </a:avLst>
          </a:prstGeom>
          <a:solidFill>
            <a:srgbClr val="222244"/>
          </a:solidFill>
          <a:ln w="12700">
            <a:solidFill>
              <a:srgbClr val="22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139903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un site vitrine complet en HTML5, CSS3, Bootstrap 5 et JavaScript vanilla.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2258568"/>
            <a:ext cx="4160520" cy="1170432"/>
          </a:xfrm>
          <a:prstGeom prst="roundRect">
            <a:avLst>
              <a:gd name="adj" fmla="val 6250"/>
            </a:avLst>
          </a:prstGeom>
          <a:solidFill>
            <a:srgbClr val="222244"/>
          </a:solidFill>
          <a:ln w="12700">
            <a:solidFill>
              <a:srgbClr val="22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23500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cible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269748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Freelances tech africains &amp; entreprises cherchant des talents numériques sur le continent.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3557016"/>
            <a:ext cx="4160520" cy="1170432"/>
          </a:xfrm>
          <a:prstGeom prst="roundRect">
            <a:avLst>
              <a:gd name="adj" fmla="val 6250"/>
            </a:avLst>
          </a:prstGeom>
          <a:solidFill>
            <a:srgbClr val="222244"/>
          </a:solidFill>
          <a:ln w="12700">
            <a:solidFill>
              <a:srgbClr val="22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36484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Portée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399592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pages HTML liées, design Bento Grid 2026, 7 fonctionnalités JS, 10 commits Git.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A8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Choix de Design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de couleurs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26517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Nuit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29260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#1A1A2E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31546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--couleur-secondaire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029968" y="1389888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29968" y="26517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Profond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29968" y="29260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#16213E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29968" y="31546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--couleur-bg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739896" y="1389888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39896" y="26517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Africain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39896" y="29260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#E8A835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39896" y="31546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--couleur-principale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49824" y="1389888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F5C76A"/>
          </a:solidFill>
          <a:ln w="12700">
            <a:solidFill>
              <a:srgbClr val="F5C76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49824" y="26517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Clair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49824" y="29260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#F5C76A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49824" y="31546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--couleur-accent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159752" y="1389888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59752" y="26517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 Doux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59752" y="29260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#F5F5F5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59752" y="31546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--couleur-texte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349300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Typographie Google Fonts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20040" y="388620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222244"/>
          </a:solidFill>
          <a:ln w="12700">
            <a:solidFill>
              <a:srgbClr val="22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39502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Poppins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57200" y="4343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Titres &amp; Headings — Modernité africaine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3886200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222244"/>
          </a:solidFill>
          <a:ln w="12700">
            <a:solidFill>
              <a:srgbClr val="22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00600" y="39502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800600" y="4343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Corps du texte — Lisibilité maximale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8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Inspirations &amp; Tendances 2026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87552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222244"/>
          </a:solidFill>
          <a:ln w="12700">
            <a:solidFill>
              <a:srgbClr val="22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09728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097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 Grid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29768" y="1536192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modulaire asymétrique inspiré du bento-box. Cartes de tailles variées via CSS Grid — tendance dominante en 2026.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987552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222244"/>
          </a:solidFill>
          <a:ln w="12700">
            <a:solidFill>
              <a:srgbClr val="22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09728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49040" y="1097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First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310128" y="1536192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sombre dominant avec toggle dark/light. Choix sauvegardé en localStorage entre les pages.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80760" y="987552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222244"/>
          </a:solidFill>
          <a:ln w="12700">
            <a:solidFill>
              <a:srgbClr val="22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09728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29400" y="1097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 Expressive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190488" y="1536192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Titres H1 à 60px+, Google Fonts Poppins. La typographie comme élément graphique à part entière.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20040" y="2953512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222244"/>
          </a:solidFill>
          <a:ln w="12700">
            <a:solidFill>
              <a:srgbClr val="22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063240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68680" y="30632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Micro-interactions JS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29768" y="3502152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fade-in (IntersectionObserver), compteurs, hover CSS — entièrement en JavaScript vanilla.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200400" y="2953512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222244"/>
          </a:solidFill>
          <a:ln w="12700">
            <a:solidFill>
              <a:srgbClr val="22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063240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749040" y="30632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Accessibilité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3310128" y="3502152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Attributs alt sur toutes les images, aria-label, contrastes WCAG suffisants, navigation clavier.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080760" y="2953512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222244"/>
          </a:solidFill>
          <a:ln w="12700">
            <a:solidFill>
              <a:srgbClr val="22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88" y="3063240"/>
            <a:ext cx="347472" cy="34747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629400" y="30632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First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190488" y="3502152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375px → 768px → 1200px+. Grille Bootstrap col-12 / col-md-6 / col-lg-4 cohérente.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A8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du projet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4023360" cy="3886200"/>
          </a:xfrm>
          <a:prstGeom prst="roundRect">
            <a:avLst>
              <a:gd name="adj" fmla="val 2353"/>
            </a:avLst>
          </a:prstGeom>
          <a:solidFill>
            <a:srgbClr val="222244"/>
          </a:solidFill>
          <a:ln w="12700">
            <a:solidFill>
              <a:srgbClr val="22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24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Arborescence des fichiers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8912" y="14447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NOM-Prenom-AfriTalent/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8912" y="16459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📄 index.html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" y="18470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📄 freelances.html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20482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📄 tarifs.html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22494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📄 about.html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24505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📄 contact.html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26517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📁 css/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8529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📄 style.css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30540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📁 js/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32552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📄 main.js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34564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📁 images/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" y="36576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📁 docs/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38587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📄 Presentation.pptx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" y="40599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📄 README.md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8912" y="42611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📄 .gitignore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960120"/>
            <a:ext cx="4251960" cy="3886200"/>
          </a:xfrm>
          <a:prstGeom prst="roundRect">
            <a:avLst>
              <a:gd name="adj" fmla="val 2353"/>
            </a:avLst>
          </a:prstGeom>
          <a:solidFill>
            <a:srgbClr val="222244"/>
          </a:solidFill>
          <a:ln w="12700">
            <a:solidFill>
              <a:srgbClr val="22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9160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Pages HTML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1728" y="1444752"/>
            <a:ext cx="4023360" cy="548640"/>
          </a:xfrm>
          <a:prstGeom prst="roundRect">
            <a:avLst>
              <a:gd name="adj" fmla="val 11667"/>
            </a:avLst>
          </a:prstGeom>
          <a:solidFill>
            <a:srgbClr val="1E2050"/>
          </a:solidFill>
          <a:ln w="12700">
            <a:solidFill>
              <a:srgbClr val="1E20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73168" y="14813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73168" y="17190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— Hero, catégories, témoignages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81728" y="2103120"/>
            <a:ext cx="4023360" cy="548640"/>
          </a:xfrm>
          <a:prstGeom prst="roundRect">
            <a:avLst>
              <a:gd name="adj" fmla="val 11667"/>
            </a:avLst>
          </a:prstGeom>
          <a:solidFill>
            <a:srgbClr val="1E2050"/>
          </a:solidFill>
          <a:ln w="12700">
            <a:solidFill>
              <a:srgbClr val="1E20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73168" y="21396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freelances.html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73168" y="2377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— 18 profils, filtrage JS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81728" y="2761488"/>
            <a:ext cx="4023360" cy="548640"/>
          </a:xfrm>
          <a:prstGeom prst="roundRect">
            <a:avLst>
              <a:gd name="adj" fmla="val 11667"/>
            </a:avLst>
          </a:prstGeom>
          <a:solidFill>
            <a:srgbClr val="1E2050"/>
          </a:solidFill>
          <a:ln w="12700">
            <a:solidFill>
              <a:srgbClr val="1E20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73168" y="279806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tarifs.html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73168" y="30358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Gratuit/Pro/Entreprise + FAQ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81728" y="3419856"/>
            <a:ext cx="4023360" cy="548640"/>
          </a:xfrm>
          <a:prstGeom prst="roundRect">
            <a:avLst>
              <a:gd name="adj" fmla="val 11667"/>
            </a:avLst>
          </a:prstGeom>
          <a:solidFill>
            <a:srgbClr val="1E2050"/>
          </a:solidFill>
          <a:ln w="12700">
            <a:solidFill>
              <a:srgbClr val="1E20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73168" y="34564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about.html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73168" y="369417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Histoire, équipe, valeurs, chiffres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81728" y="4078224"/>
            <a:ext cx="4023360" cy="548640"/>
          </a:xfrm>
          <a:prstGeom prst="roundRect">
            <a:avLst>
              <a:gd name="adj" fmla="val 11667"/>
            </a:avLst>
          </a:prstGeom>
          <a:solidFill>
            <a:srgbClr val="1E2050"/>
          </a:solidFill>
          <a:ln w="12700">
            <a:solidFill>
              <a:srgbClr val="1E20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73168" y="41148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contact.html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73168" y="43525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validé JS + Google Maps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A8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Aperçu des pages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1E2050"/>
          </a:solidFill>
          <a:ln w="12700">
            <a:solidFill>
              <a:srgbClr val="E8A83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697480" cy="365760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9669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Hero + CTA double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7099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Section Bento Grid 'Comment ça marche'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20025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 catégories avec hover CSS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2951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Carousel témoignages Bootstrap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5877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Footer 4 colonnes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1A2E1A"/>
          </a:solidFill>
          <a:ln w="12700">
            <a:solidFill>
              <a:srgbClr val="E8A83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960120"/>
            <a:ext cx="2697480" cy="365760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99669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freelances.html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1417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Barre de filtres JS (sans rechargement)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91840" y="17099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18 profils en grille responsive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91840" y="20025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col desktop / 2 tablette / 1 mobile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80760" y="96012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2E1A1A"/>
          </a:solidFill>
          <a:ln w="12700">
            <a:solidFill>
              <a:srgbClr val="E8A83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960120"/>
            <a:ext cx="2697480" cy="365760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99669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tarifs.html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1417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 Pro mis en avant (badge 'Populaire')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172200" y="17099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cartes tarifaires comparatives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72200" y="20025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FAQ en Accordion Bootstrap (5+ questions)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01752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1A2A2E"/>
          </a:solidFill>
          <a:ln w="12700">
            <a:solidFill>
              <a:srgbClr val="E8A83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017520"/>
            <a:ext cx="4160520" cy="365760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054096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about.html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347472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Notre Histoire + image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82219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membres de l'équipe fictive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16966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Section chiffres clés (Bento Grid)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01752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2E2A1A"/>
          </a:solidFill>
          <a:ln w="12700">
            <a:solidFill>
              <a:srgbClr val="E8A83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017520"/>
            <a:ext cx="4160520" cy="365760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054096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contact.html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347472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Formulaire complet validé en JS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2040" y="382219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Regex email + longueur message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92040" y="416966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Carte Google Maps intégrée (iframe)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Remplacer par captures d'écran réelles avant la soutenance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8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techniques — JavaScript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87552"/>
            <a:ext cx="4114800" cy="841248"/>
          </a:xfrm>
          <a:prstGeom prst="roundRect">
            <a:avLst>
              <a:gd name="adj" fmla="val 8696"/>
            </a:avLst>
          </a:prstGeom>
          <a:solidFill>
            <a:srgbClr val="222244"/>
          </a:solidFill>
          <a:ln w="12700">
            <a:solidFill>
              <a:srgbClr val="22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1887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392" y="1078992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29768" y="1481328"/>
            <a:ext cx="3913632" cy="274320"/>
          </a:xfrm>
          <a:prstGeom prst="roundRect">
            <a:avLst>
              <a:gd name="adj" fmla="val 16667"/>
            </a:avLst>
          </a:prstGeom>
          <a:solidFill>
            <a:srgbClr val="0D0D1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4632" y="14996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C7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localStorage.setItem('theme', 'dark')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63440" y="987552"/>
            <a:ext cx="4114800" cy="841248"/>
          </a:xfrm>
          <a:prstGeom prst="roundRect">
            <a:avLst>
              <a:gd name="adj" fmla="val 8696"/>
            </a:avLst>
          </a:prstGeom>
          <a:solidFill>
            <a:srgbClr val="222244"/>
          </a:solidFill>
          <a:ln w="12700">
            <a:solidFill>
              <a:srgbClr val="22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1887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93792" y="1078992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Compteurs animés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773168" y="1481328"/>
            <a:ext cx="3913632" cy="274320"/>
          </a:xfrm>
          <a:prstGeom prst="roundRect">
            <a:avLst>
              <a:gd name="adj" fmla="val 16667"/>
            </a:avLst>
          </a:prstGeom>
          <a:solidFill>
            <a:srgbClr val="0D0D1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28032" y="14996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C7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IntersectionObserver(cb, {threshold:0.1})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0040" y="1993392"/>
            <a:ext cx="4114800" cy="841248"/>
          </a:xfrm>
          <a:prstGeom prst="roundRect">
            <a:avLst>
              <a:gd name="adj" fmla="val 8696"/>
            </a:avLst>
          </a:prstGeom>
          <a:solidFill>
            <a:srgbClr val="222244"/>
          </a:solidFill>
          <a:ln w="12700">
            <a:solidFill>
              <a:srgbClr val="22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19456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0392" y="2084832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freelances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29768" y="2487168"/>
            <a:ext cx="3913632" cy="274320"/>
          </a:xfrm>
          <a:prstGeom prst="roundRect">
            <a:avLst>
              <a:gd name="adj" fmla="val 16667"/>
            </a:avLst>
          </a:prstGeom>
          <a:solidFill>
            <a:srgbClr val="0D0D1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84632" y="25054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C7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card.classList.toggle('hidden', !match)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663440" y="1993392"/>
            <a:ext cx="4114800" cy="841248"/>
          </a:xfrm>
          <a:prstGeom prst="roundRect">
            <a:avLst>
              <a:gd name="adj" fmla="val 8696"/>
            </a:avLst>
          </a:prstGeom>
          <a:solidFill>
            <a:srgbClr val="222244"/>
          </a:solidFill>
          <a:ln w="12700">
            <a:solidFill>
              <a:srgbClr val="22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19456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93792" y="2084832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formulaire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4773168" y="2487168"/>
            <a:ext cx="3913632" cy="274320"/>
          </a:xfrm>
          <a:prstGeom prst="roundRect">
            <a:avLst>
              <a:gd name="adj" fmla="val 16667"/>
            </a:avLst>
          </a:prstGeom>
          <a:solidFill>
            <a:srgbClr val="0D0D1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828032" y="25054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C7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/^[^\s@]+@[^\s@]+\.[^\s@]+$/.test(e)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320040" y="2999232"/>
            <a:ext cx="4114800" cy="841248"/>
          </a:xfrm>
          <a:prstGeom prst="roundRect">
            <a:avLst>
              <a:gd name="adj" fmla="val 8696"/>
            </a:avLst>
          </a:prstGeom>
          <a:solidFill>
            <a:srgbClr val="222244"/>
          </a:solidFill>
          <a:ln w="12700">
            <a:solidFill>
              <a:srgbClr val="22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320040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50392" y="3090672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dynamique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429768" y="3493008"/>
            <a:ext cx="3913632" cy="274320"/>
          </a:xfrm>
          <a:prstGeom prst="roundRect">
            <a:avLst>
              <a:gd name="adj" fmla="val 16667"/>
            </a:avLst>
          </a:prstGeom>
          <a:solidFill>
            <a:srgbClr val="0D0D1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484632" y="35112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C7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window.addEventListener('scroll', cb)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4663440" y="2999232"/>
            <a:ext cx="4114800" cy="841248"/>
          </a:xfrm>
          <a:prstGeom prst="roundRect">
            <a:avLst>
              <a:gd name="adj" fmla="val 8696"/>
            </a:avLst>
          </a:prstGeom>
          <a:solidFill>
            <a:srgbClr val="222244"/>
          </a:solidFill>
          <a:ln w="12700">
            <a:solidFill>
              <a:srgbClr val="22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168" y="3200400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193792" y="3090672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en haut</a:t>
            </a:r>
            <a:endParaRPr lang="en-US" sz="1300" dirty="0"/>
          </a:p>
        </p:txBody>
      </p:sp>
      <p:sp>
        <p:nvSpPr>
          <p:cNvPr id="32" name="Shape 24"/>
          <p:cNvSpPr/>
          <p:nvPr/>
        </p:nvSpPr>
        <p:spPr>
          <a:xfrm>
            <a:off x="4773168" y="3493008"/>
            <a:ext cx="3913632" cy="274320"/>
          </a:xfrm>
          <a:prstGeom prst="roundRect">
            <a:avLst>
              <a:gd name="adj" fmla="val 16667"/>
            </a:avLst>
          </a:prstGeom>
          <a:solidFill>
            <a:srgbClr val="0D0D1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4828032" y="35112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C7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scrollTo({ top: 0, behavior: 'smooth' })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320040" y="4005072"/>
            <a:ext cx="8503920" cy="804672"/>
          </a:xfrm>
          <a:prstGeom prst="roundRect">
            <a:avLst>
              <a:gd name="adj" fmla="val 9091"/>
            </a:avLst>
          </a:prstGeom>
          <a:solidFill>
            <a:srgbClr val="222244"/>
          </a:solidFill>
          <a:ln w="12700">
            <a:solidFill>
              <a:srgbClr val="22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206240"/>
            <a:ext cx="320040" cy="32004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96112" y="4096512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Fade-in sections</a:t>
            </a:r>
            <a:endParaRPr lang="en-US" sz="1300" dirty="0"/>
          </a:p>
        </p:txBody>
      </p:sp>
      <p:sp>
        <p:nvSpPr>
          <p:cNvPr id="37" name="Shape 28"/>
          <p:cNvSpPr/>
          <p:nvPr/>
        </p:nvSpPr>
        <p:spPr>
          <a:xfrm>
            <a:off x="4114800" y="4169664"/>
            <a:ext cx="4572000" cy="457200"/>
          </a:xfrm>
          <a:prstGeom prst="roundRect">
            <a:avLst>
              <a:gd name="adj" fmla="val 10000"/>
            </a:avLst>
          </a:prstGeom>
          <a:solidFill>
            <a:srgbClr val="0D0D1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4187952" y="4206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7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observer.observe(el) // IntersectionObserver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8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 5 &amp; CSS avancé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4160520" cy="3886200"/>
          </a:xfrm>
          <a:prstGeom prst="roundRect">
            <a:avLst>
              <a:gd name="adj" fmla="val 2353"/>
            </a:avLst>
          </a:prstGeom>
          <a:solidFill>
            <a:srgbClr val="222244"/>
          </a:solidFill>
          <a:ln w="12700">
            <a:solidFill>
              <a:srgbClr val="22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Bootstrap 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responsive (navbar-expand-lg)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: col-12 / col-md-6 / col-lg-4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(profils freelances)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 (témoignages, 3 slides)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Accordion (FAQ, 5+ questions)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Bootstrap (confirmation)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+ Boutons CTA colorés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4160520" cy="3886200"/>
          </a:xfrm>
          <a:prstGeom prst="roundRect">
            <a:avLst>
              <a:gd name="adj" fmla="val 2353"/>
            </a:avLst>
          </a:prstGeom>
          <a:solidFill>
            <a:srgbClr val="222244"/>
          </a:solidFill>
          <a:ln w="12700">
            <a:solidFill>
              <a:srgbClr val="22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CSS — :root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73168" y="1481328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0D0D1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49961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7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--couleur-principale: #E8A835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73168" y="1938528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0D0D1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95681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7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--couleur-secondaire: #1A1A2E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73168" y="2395728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0D0D1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41401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7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--couleur-bg: #16213E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73168" y="2852928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0D0D1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87121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7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--couleur-texte: #F5F5F5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73168" y="3310128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0D0D1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32841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7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--couleur-accent: #F5C76A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73168" y="3767328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0D0D1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78561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7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--font-titre: 'Poppins', sans-serif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73168" y="4224528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0D0D1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424281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7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--font-corps: 'Inter', sans-serif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A8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&amp; Déploiement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commits — Planning exact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530352" cy="475488"/>
          </a:xfrm>
          <a:prstGeom prst="roundRect">
            <a:avLst>
              <a:gd name="adj" fmla="val 11538"/>
            </a:avLst>
          </a:prstGeom>
          <a:solidFill>
            <a:srgbClr val="1E2050"/>
          </a:solidFill>
          <a:ln w="12700">
            <a:solidFill>
              <a:srgbClr val="334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53312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41832" y="14447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: création du dépôt, arborescence des fichiers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353312"/>
            <a:ext cx="530352" cy="475488"/>
          </a:xfrm>
          <a:prstGeom prst="roundRect">
            <a:avLst>
              <a:gd name="adj" fmla="val 11538"/>
            </a:avLst>
          </a:prstGeom>
          <a:solidFill>
            <a:srgbClr val="1E2050"/>
          </a:solidFill>
          <a:ln w="12700">
            <a:solidFill>
              <a:srgbClr val="334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353312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85232" y="14447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: structure complète des 5 pages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020824"/>
            <a:ext cx="530352" cy="475488"/>
          </a:xfrm>
          <a:prstGeom prst="roundRect">
            <a:avLst>
              <a:gd name="adj" fmla="val 11538"/>
            </a:avLst>
          </a:prstGeom>
          <a:solidFill>
            <a:srgbClr val="1E2050"/>
          </a:solidFill>
          <a:ln w="12700">
            <a:solidFill>
              <a:srgbClr val="334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020824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41832" y="21122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 variables, typographie, layout général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020824"/>
            <a:ext cx="530352" cy="475488"/>
          </a:xfrm>
          <a:prstGeom prst="roundRect">
            <a:avLst>
              <a:gd name="adj" fmla="val 11538"/>
            </a:avLst>
          </a:prstGeom>
          <a:solidFill>
            <a:srgbClr val="1E2050"/>
          </a:solidFill>
          <a:ln w="12700">
            <a:solidFill>
              <a:srgbClr val="334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020824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85232" y="21122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 Bento Grid, hero, catégories, hover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688336"/>
            <a:ext cx="530352" cy="475488"/>
          </a:xfrm>
          <a:prstGeom prst="roundRect">
            <a:avLst>
              <a:gd name="adj" fmla="val 11538"/>
            </a:avLst>
          </a:prstGeom>
          <a:solidFill>
            <a:srgbClr val="1E2050"/>
          </a:solidFill>
          <a:ln w="12700">
            <a:solidFill>
              <a:srgbClr val="334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688336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41832" y="277977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 responsive design, media queries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688336"/>
            <a:ext cx="530352" cy="475488"/>
          </a:xfrm>
          <a:prstGeom prst="roundRect">
            <a:avLst>
              <a:gd name="adj" fmla="val 11538"/>
            </a:avLst>
          </a:prstGeom>
          <a:solidFill>
            <a:srgbClr val="1E2050"/>
          </a:solidFill>
          <a:ln w="12700">
            <a:solidFill>
              <a:srgbClr val="334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688336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85232" y="277977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: dark mode localStorage, navbar scroll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355848"/>
            <a:ext cx="530352" cy="475488"/>
          </a:xfrm>
          <a:prstGeom prst="roundRect">
            <a:avLst>
              <a:gd name="adj" fmla="val 11538"/>
            </a:avLst>
          </a:prstGeom>
          <a:solidFill>
            <a:srgbClr val="1E2050"/>
          </a:solidFill>
          <a:ln w="12700">
            <a:solidFill>
              <a:srgbClr val="3344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355848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41832" y="34472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: compteurs animés, fade-in sections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355848"/>
            <a:ext cx="530352" cy="475488"/>
          </a:xfrm>
          <a:prstGeom prst="roundRect">
            <a:avLst>
              <a:gd name="adj" fmla="val 11538"/>
            </a:avLst>
          </a:prstGeom>
          <a:solidFill>
            <a:srgbClr val="1E2050"/>
          </a:solidFill>
          <a:ln w="12700">
            <a:solidFill>
              <a:srgbClr val="3344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355848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85232" y="34472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: filtrage freelances, validation formulaire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023360"/>
            <a:ext cx="530352" cy="475488"/>
          </a:xfrm>
          <a:prstGeom prst="roundRect">
            <a:avLst>
              <a:gd name="adj" fmla="val 11538"/>
            </a:avLst>
          </a:prstGeom>
          <a:solidFill>
            <a:srgbClr val="1E2050"/>
          </a:solidFill>
          <a:ln w="12700">
            <a:solidFill>
              <a:srgbClr val="3344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023360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C9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41832" y="4114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Finalisation : corrections, commentaires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4023360"/>
            <a:ext cx="530352" cy="475488"/>
          </a:xfrm>
          <a:prstGeom prst="roundRect">
            <a:avLst>
              <a:gd name="adj" fmla="val 11538"/>
            </a:avLst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4023360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85232" y="4114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: GitHub Pages + README + PPT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4663440"/>
            <a:ext cx="8503920" cy="347472"/>
          </a:xfrm>
          <a:prstGeom prst="roundRect">
            <a:avLst>
              <a:gd name="adj" fmla="val 18421"/>
            </a:avLst>
          </a:prstGeom>
          <a:solidFill>
            <a:srgbClr val="222244"/>
          </a:solidFill>
          <a:ln w="12700">
            <a:solidFill>
              <a:srgbClr val="22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56032" cy="256032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804672" y="47091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github.com/[username]/NOM-Prenom-AfriTalent   |   GitHub Pages : https://[username].github.io/NOM-Prenom-AfriTalent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A8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Difficultés &amp; Solutions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87552"/>
            <a:ext cx="8503920" cy="841248"/>
          </a:xfrm>
          <a:prstGeom prst="roundRect">
            <a:avLst>
              <a:gd name="adj" fmla="val 9783"/>
            </a:avLst>
          </a:prstGeom>
          <a:solidFill>
            <a:srgbClr val="222244"/>
          </a:solidFill>
          <a:ln w="12700">
            <a:solidFill>
              <a:srgbClr val="22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1078992"/>
            <a:ext cx="822960" cy="246888"/>
          </a:xfrm>
          <a:prstGeom prst="roundRect">
            <a:avLst>
              <a:gd name="adj" fmla="val 18519"/>
            </a:avLst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7899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1060704"/>
            <a:ext cx="246888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82496" y="1051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 .git initialisé à la racine du disque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0" y="1060704"/>
            <a:ext cx="36576" cy="685800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060704"/>
            <a:ext cx="246888" cy="2468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47488" y="10515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avec git rm -rf --cached, réinitialisation propre dans le dossier du projet.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" y="1975104"/>
            <a:ext cx="8503920" cy="841248"/>
          </a:xfrm>
          <a:prstGeom prst="roundRect">
            <a:avLst>
              <a:gd name="adj" fmla="val 9783"/>
            </a:avLst>
          </a:prstGeom>
          <a:solidFill>
            <a:srgbClr val="222244"/>
          </a:solidFill>
          <a:ln w="12700">
            <a:solidFill>
              <a:srgbClr val="22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8912" y="2066544"/>
            <a:ext cx="822960" cy="246888"/>
          </a:xfrm>
          <a:prstGeom prst="roundRect">
            <a:avLst>
              <a:gd name="adj" fmla="val 18519"/>
            </a:avLst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38912" y="2066544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2048256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82496" y="20391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IntersectionObserver non déclenché sur les sections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72000" y="2048256"/>
            <a:ext cx="36576" cy="685800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048256"/>
            <a:ext cx="246888" cy="2468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047488" y="203911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de threshold: 0.1 et vérification que les éléments .fade-in existent dans le DOM au chargement.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20040" y="2962656"/>
            <a:ext cx="8503920" cy="841248"/>
          </a:xfrm>
          <a:prstGeom prst="roundRect">
            <a:avLst>
              <a:gd name="adj" fmla="val 9783"/>
            </a:avLst>
          </a:prstGeom>
          <a:solidFill>
            <a:srgbClr val="222244"/>
          </a:solidFill>
          <a:ln w="12700">
            <a:solidFill>
              <a:srgbClr val="22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38912" y="3054096"/>
            <a:ext cx="822960" cy="246888"/>
          </a:xfrm>
          <a:prstGeom prst="roundRect">
            <a:avLst>
              <a:gd name="adj" fmla="val 18519"/>
            </a:avLst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38912" y="305409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3312" y="3035808"/>
            <a:ext cx="246888" cy="24688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682496" y="30266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non persistant entre les pages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572000" y="3035808"/>
            <a:ext cx="36576" cy="685800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3035808"/>
            <a:ext cx="246888" cy="24688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047488" y="3026664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de localStorage au DOMContentLoaded de chaque page pour appliquer le thème avant affichage.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320040" y="3950208"/>
            <a:ext cx="8503920" cy="841248"/>
          </a:xfrm>
          <a:prstGeom prst="roundRect">
            <a:avLst>
              <a:gd name="adj" fmla="val 9783"/>
            </a:avLst>
          </a:prstGeom>
          <a:solidFill>
            <a:srgbClr val="222244"/>
          </a:solidFill>
          <a:ln w="12700">
            <a:solidFill>
              <a:srgbClr val="22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438912" y="4041648"/>
            <a:ext cx="822960" cy="246888"/>
          </a:xfrm>
          <a:prstGeom prst="roundRect">
            <a:avLst>
              <a:gd name="adj" fmla="val 18519"/>
            </a:avLst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438912" y="4041648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9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3312" y="4023360"/>
            <a:ext cx="246888" cy="24688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682496" y="40142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page cassée sur mobile 375px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4572000" y="4023360"/>
            <a:ext cx="36576" cy="685800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160" y="4023360"/>
            <a:ext cx="246888" cy="24688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047488" y="4014216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Remplacement des largeurs fixes en px par des unités relatives (%, vw) et révision des media queries.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8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Ressources &amp; Documentation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4069080" cy="1737360"/>
          </a:xfrm>
          <a:prstGeom prst="roundRect">
            <a:avLst>
              <a:gd name="adj" fmla="val 5263"/>
            </a:avLst>
          </a:prstGeom>
          <a:solidFill>
            <a:srgbClr val="222244"/>
          </a:solidFill>
          <a:ln w="12700">
            <a:solidFill>
              <a:srgbClr val="22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111556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1155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53619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8952" y="15179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— HTML5, CSS3, JS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90195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8952" y="18836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Docs v5.3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267712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58952" y="22494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Validator — Validation HTML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663440" y="1005840"/>
            <a:ext cx="4069080" cy="1737360"/>
          </a:xfrm>
          <a:prstGeom prst="roundRect">
            <a:avLst>
              <a:gd name="adj" fmla="val 5263"/>
            </a:avLst>
          </a:prstGeom>
          <a:solidFill>
            <a:srgbClr val="222244"/>
          </a:solidFill>
          <a:ln w="12700">
            <a:solidFill>
              <a:srgbClr val="22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773168" y="111556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773168" y="11155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536192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102352" y="15179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 (Poppins + Inter)</a:t>
            </a:r>
            <a:endParaRPr lang="en-US" sz="12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1901952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102352" y="18836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Icons</a:t>
            </a:r>
            <a:endParaRPr lang="en-US" sz="12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2267712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02352" y="22494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Awwwards &amp; Dribbble (inspiration)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320040" y="2926080"/>
            <a:ext cx="4069080" cy="1737360"/>
          </a:xfrm>
          <a:prstGeom prst="roundRect">
            <a:avLst>
              <a:gd name="adj" fmla="val 5263"/>
            </a:avLst>
          </a:prstGeom>
          <a:solidFill>
            <a:srgbClr val="222244"/>
          </a:solidFill>
          <a:ln w="12700">
            <a:solidFill>
              <a:srgbClr val="22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429768" y="30358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429768" y="30358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0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" y="3456432"/>
            <a:ext cx="201168" cy="20116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58952" y="34381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Unsplash (photos libres de droits)</a:t>
            </a:r>
            <a:endParaRPr lang="en-US" sz="12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" y="3822192"/>
            <a:ext cx="201168" cy="20116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758952" y="38039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Pexels (avatars freelances)</a:t>
            </a:r>
            <a:endParaRPr lang="en-US" sz="12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" y="4187952"/>
            <a:ext cx="201168" cy="20116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758952" y="41696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Coolors (générateur de palette)</a:t>
            </a:r>
            <a:endParaRPr lang="en-US" sz="1200" dirty="0"/>
          </a:p>
        </p:txBody>
      </p:sp>
      <p:sp>
        <p:nvSpPr>
          <p:cNvPr id="31" name="Shape 20"/>
          <p:cNvSpPr/>
          <p:nvPr/>
        </p:nvSpPr>
        <p:spPr>
          <a:xfrm>
            <a:off x="4663440" y="2926080"/>
            <a:ext cx="4069080" cy="1737360"/>
          </a:xfrm>
          <a:prstGeom prst="roundRect">
            <a:avLst>
              <a:gd name="adj" fmla="val 5263"/>
            </a:avLst>
          </a:prstGeom>
          <a:solidFill>
            <a:srgbClr val="222244"/>
          </a:solidFill>
          <a:ln w="12700">
            <a:solidFill>
              <a:srgbClr val="22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Shape 21"/>
          <p:cNvSpPr/>
          <p:nvPr/>
        </p:nvSpPr>
        <p:spPr>
          <a:xfrm>
            <a:off x="4773168" y="30358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33" name="Text 22"/>
          <p:cNvSpPr/>
          <p:nvPr/>
        </p:nvSpPr>
        <p:spPr>
          <a:xfrm>
            <a:off x="4773168" y="30358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</a:t>
            </a:r>
            <a:endParaRPr lang="en-US" sz="10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28032" y="3456432"/>
            <a:ext cx="201168" cy="201168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5102352" y="34381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extension Live Server</a:t>
            </a:r>
            <a:endParaRPr lang="en-US" sz="120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28032" y="3822192"/>
            <a:ext cx="201168" cy="201168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5102352" y="38039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 (versioning)</a:t>
            </a:r>
            <a:endParaRPr lang="en-US" sz="120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28032" y="4187952"/>
            <a:ext cx="201168" cy="201168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5102352" y="41696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(déploiement)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A8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 Live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site AfriTalent sur GitHub Pages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0" y="2194560"/>
            <a:ext cx="4572000" cy="36576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35915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je vais vous montrer :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83464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2788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fluide entre les 5 pages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83464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76672" y="2788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Dark / Light Mode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2900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61872" y="3383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dynamique des freelances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429000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376672" y="3383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Compteurs animés au scroll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023360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61872" y="3977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du formulaire de contact</a:t>
            </a:r>
            <a:endParaRPr lang="en-US" sz="13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4023360"/>
            <a:ext cx="256032" cy="25603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376672" y="3977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mobile (DevTools F12)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8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Perspectives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4160520" cy="3429000"/>
          </a:xfrm>
          <a:prstGeom prst="roundRect">
            <a:avLst>
              <a:gd name="adj" fmla="val 2667"/>
            </a:avLst>
          </a:prstGeom>
          <a:solidFill>
            <a:srgbClr val="222244"/>
          </a:solidFill>
          <a:ln w="12700">
            <a:solidFill>
              <a:srgbClr val="22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j'ai accompli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14630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pages HTML5 sémantiques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672" y="19019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Bento Grid moderne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59152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4672" y="23408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fonctionnalités JS vanilla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798064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4672" y="27797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375px → 1200px+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236976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04672" y="32186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commits Git structurés</a:t>
            </a:r>
            <a:endParaRPr lang="en-US" sz="13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675888"/>
            <a:ext cx="256032" cy="25603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04672" y="36576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GitHub Pages</a:t>
            </a:r>
            <a:endParaRPr lang="en-US" sz="13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114800"/>
            <a:ext cx="256032" cy="256032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804672" y="40965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professionnel</a:t>
            </a:r>
            <a:endParaRPr lang="en-US" sz="1300" dirty="0"/>
          </a:p>
        </p:txBody>
      </p:sp>
      <p:sp>
        <p:nvSpPr>
          <p:cNvPr id="20" name="Shape 11"/>
          <p:cNvSpPr/>
          <p:nvPr/>
        </p:nvSpPr>
        <p:spPr>
          <a:xfrm>
            <a:off x="4663440" y="960120"/>
            <a:ext cx="4160520" cy="3429000"/>
          </a:xfrm>
          <a:prstGeom prst="roundRect">
            <a:avLst>
              <a:gd name="adj" fmla="val 2667"/>
            </a:avLst>
          </a:prstGeom>
          <a:solidFill>
            <a:srgbClr val="222244"/>
          </a:solidFill>
          <a:ln w="12700">
            <a:solidFill>
              <a:srgbClr val="2222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2"/>
          <p:cNvSpPr/>
          <p:nvPr/>
        </p:nvSpPr>
        <p:spPr>
          <a:xfrm>
            <a:off x="4800600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d'amélioration</a:t>
            </a:r>
            <a:endParaRPr lang="en-US" sz="13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1481328"/>
            <a:ext cx="256032" cy="256032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166360" y="14630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Node.js + PHP</a:t>
            </a:r>
            <a:endParaRPr lang="en-US" sz="13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0600" y="1920240"/>
            <a:ext cx="256032" cy="256032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166360" y="190195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MySQL</a:t>
            </a:r>
            <a:endParaRPr lang="en-US" sz="13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0600" y="2359152"/>
            <a:ext cx="256032" cy="256032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166360" y="234086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freelance connecté</a:t>
            </a:r>
            <a:endParaRPr lang="en-US" sz="130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00600" y="2798064"/>
            <a:ext cx="256032" cy="256032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5166360" y="277977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UX avancées</a:t>
            </a:r>
            <a:endParaRPr lang="en-US" sz="1300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00600" y="3236976"/>
            <a:ext cx="256032" cy="256032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5166360" y="321868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(offline + installable)</a:t>
            </a:r>
            <a:endParaRPr lang="en-US" sz="1300" dirty="0"/>
          </a:p>
        </p:txBody>
      </p:sp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00600" y="3675888"/>
            <a:ext cx="256032" cy="256032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5166360" y="36576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VPS / Netlify</a:t>
            </a:r>
            <a:endParaRPr lang="en-US" sz="1300" dirty="0"/>
          </a:p>
        </p:txBody>
      </p:sp>
      <p:sp>
        <p:nvSpPr>
          <p:cNvPr id="34" name="Shape 19"/>
          <p:cNvSpPr/>
          <p:nvPr/>
        </p:nvSpPr>
        <p:spPr>
          <a:xfrm>
            <a:off x="320040" y="4526280"/>
            <a:ext cx="8503920" cy="457200"/>
          </a:xfrm>
          <a:prstGeom prst="roundRect">
            <a:avLst>
              <a:gd name="adj" fmla="val 16000"/>
            </a:avLst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</p:sp>
      <p:sp>
        <p:nvSpPr>
          <p:cNvPr id="35" name="Text 20"/>
          <p:cNvSpPr/>
          <p:nvPr/>
        </p:nvSpPr>
        <p:spPr>
          <a:xfrm>
            <a:off x="320040" y="45262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  —  Questions 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2026-06-17T23:04:47Z</dcterms:created>
  <dcterms:modified xsi:type="dcterms:W3CDTF">2026-06-17T23:04:47Z</dcterms:modified>
</cp:coreProperties>
</file>